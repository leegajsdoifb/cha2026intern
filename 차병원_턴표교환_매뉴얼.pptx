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39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86200" y="914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NanumGothic"/>
              </a:rP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NanumGothic"/>
              </a:rPr>
              <a:t>차병원</a:t>
            </a:r>
            <a:r>
              <a:rPr sz="3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anumGothic"/>
              </a:rPr>
              <a:t>인턴</a:t>
            </a:r>
            <a:r>
              <a:rPr sz="3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anumGothic"/>
              </a:rPr>
              <a:t>턴표</a:t>
            </a:r>
            <a:r>
              <a:rPr sz="3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anumGothic"/>
              </a:rPr>
              <a:t>교환</a:t>
            </a:r>
            <a:r>
              <a:rPr sz="3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NanumGothic"/>
              </a:rPr>
              <a:t>시스템</a:t>
            </a:r>
            <a:endParaRPr sz="3200" b="1" dirty="0">
              <a:solidFill>
                <a:srgbClr val="FFFFFF"/>
              </a:solidFill>
              <a:latin typeface="Nanum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2C39A"/>
                </a:solidFill>
                <a:latin typeface="NanumGothic"/>
              </a:rPr>
              <a:t>교환 규칙 &amp; 사용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6B7280"/>
                </a:solidFill>
                <a:latin typeface="NanumGothic"/>
              </a:rPr>
              <a:t>2026 CHA INTERN</a:t>
            </a:r>
            <a:endParaRPr sz="1200" b="0" dirty="0">
              <a:solidFill>
                <a:srgbClr val="6B7280"/>
              </a:solidFill>
              <a:latin typeface="Nanum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2E44"/>
                </a:solidFill>
                <a:latin typeface="NanumGothic"/>
              </a:rPr>
              <a:t>📋 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2286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4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로그인 &amp; 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704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첫 접속, 비밀번호, 화면 설명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교환 규칙 한눈에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90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4가지 핵심 규칙 요약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필수과목 규칙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677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IM, GS, OB, PE, 진로탐색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휴가턴 교환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163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휴가턴 주고받기 밸런스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교환 신청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649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단일 교환 &amp; 복합 교환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조합 찾기 &amp; 장터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13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자동 조합 탐색, 교환 장터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44"/>
                </a:solidFill>
                <a:latin typeface="NanumGothic"/>
              </a:rPr>
              <a:t>요청 수락/거절 &amp; 시뮬레이션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4622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NanumGothic"/>
              </a:rPr>
              <a:t>받은 요청 처리, 사전 탐색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1  로그인 &amp; 화면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3152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090"/>
                </a:solidFill>
                <a:latin typeface="NanumGothic"/>
              </a:rPr>
              <a:t>🔐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이름 + 비밀번호로 로그인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기본 비밀번호: 1234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→ 첫 로그인 시 비밀번호 변경 화면이 나타나요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→ 사이드바 &gt; 🔑 비밀번호 변경에서 언제든 변경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73152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090"/>
                </a:solidFill>
                <a:latin typeface="NanumGothic"/>
              </a:rPr>
              <a:t>📱 화면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메인 화면 (가운데)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교환 신청 / 전체 스케줄 / 교환 장터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사이드바 (왼쪽 &gt; 버튼)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내 현황 / 받은 요청 / 교환 시뮬레이션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8412480" cy="165321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090"/>
                </a:solidFill>
                <a:latin typeface="NanumGothic"/>
              </a:rPr>
              <a:t>📊 전체 스케줄 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모든 인턴의 턴표를 한눈에 볼 수 있어요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노란 배경 = 내 행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파란 배경 = 교환 신청한 상대방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빨간 테두리 = 교환 중인 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49717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028090"/>
                </a:solidFill>
                <a:latin typeface="NanumGothic"/>
              </a:rPr>
              <a:t>💡 </a:t>
            </a:r>
            <a:r>
              <a:rPr sz="1000" b="1" dirty="0" err="1">
                <a:solidFill>
                  <a:srgbClr val="028090"/>
                </a:solidFill>
                <a:latin typeface="NanumGothic"/>
              </a:rPr>
              <a:t>화면</a:t>
            </a:r>
            <a:r>
              <a:rPr sz="1000" b="1" dirty="0">
                <a:solidFill>
                  <a:srgbClr val="028090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028090"/>
                </a:solidFill>
                <a:latin typeface="NanumGothic"/>
              </a:rPr>
              <a:t>전환</a:t>
            </a:r>
            <a:endParaRPr sz="1000" b="1" dirty="0">
              <a:solidFill>
                <a:srgbClr val="028090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 err="1">
                <a:solidFill>
                  <a:srgbClr val="1A2E44"/>
                </a:solidFill>
                <a:latin typeface="NanumGothic"/>
              </a:rPr>
              <a:t>오른쪽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상단에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📱/💻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버튼으로</a:t>
            </a: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 err="1">
                <a:solidFill>
                  <a:srgbClr val="1A2E44"/>
                </a:solidFill>
                <a:latin typeface="NanumGothic"/>
              </a:rPr>
              <a:t>모바일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↔ PC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레이아웃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전환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가능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!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028090"/>
                </a:solidFill>
                <a:latin typeface="NanumGothic"/>
              </a:rPr>
              <a:t>🔄 </a:t>
            </a:r>
            <a:r>
              <a:rPr sz="1000" b="1" dirty="0" err="1">
                <a:solidFill>
                  <a:srgbClr val="028090"/>
                </a:solidFill>
                <a:latin typeface="NanumGothic"/>
              </a:rPr>
              <a:t>새로고침</a:t>
            </a:r>
            <a:endParaRPr sz="1000" b="1" dirty="0">
              <a:solidFill>
                <a:srgbClr val="028090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 err="1">
                <a:solidFill>
                  <a:srgbClr val="1A2E44"/>
                </a:solidFill>
                <a:latin typeface="NanumGothic"/>
              </a:rPr>
              <a:t>다른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사람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내용을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보려면</a:t>
            </a: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1A2E44"/>
                </a:solidFill>
                <a:latin typeface="NanumGothic"/>
              </a:rPr>
              <a:t>🔄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새로고침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버튼을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눌러주세요</a:t>
            </a:r>
            <a:endParaRPr sz="1000" b="0" dirty="0">
              <a:solidFill>
                <a:srgbClr val="1A2E44"/>
              </a:solidFill>
              <a:latin typeface="Nanum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2  교환 규칙 한눈에 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28090"/>
                </a:solidFill>
                <a:latin typeface="NanumGothic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E44"/>
                </a:solidFill>
                <a:latin typeface="NanumGothic"/>
              </a:rPr>
              <a:t>필수과목 5개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교환 후에도 IM, GS, OB, PE, 진로탐색
5개 과목이 반드시 모두 있어야 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058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28090"/>
                </a:solidFill>
                <a:latin typeface="NanumGothic"/>
              </a:rPr>
              <a:t>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1430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E44"/>
                </a:solidFill>
                <a:latin typeface="NanumGothic"/>
              </a:rPr>
              <a:t>1턴, 2턴 교환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146304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1턴과 2턴은 교환할 수 없어요
3턴~13턴만 교환 가능합니다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774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28090"/>
                </a:solidFill>
                <a:latin typeface="NanumGothic"/>
              </a:rPr>
              <a:t>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146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E44"/>
                </a:solidFill>
                <a:latin typeface="NanumGothic"/>
              </a:rPr>
              <a:t>휴가턴 교환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3464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휴가턴을 줬으면 같은 상대에게서
다른 휴가턴을 받아와야 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3774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28090"/>
                </a:solidFill>
                <a:latin typeface="NanumGothic"/>
              </a:rP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59" y="25146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E44"/>
                </a:solidFill>
                <a:latin typeface="NanumGothic"/>
              </a:rPr>
              <a:t>분당 근무 최소 7턴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283464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교환 후에도 분당 근무가
최소 7턴 이상이어야 해요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39"/>
            <a:ext cx="841248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93149"/>
            <a:ext cx="804672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NanumGothic"/>
              </a:rPr>
              <a:t>💡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모든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규칙은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시스템이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자동으로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검증해요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!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규칙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위반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교환은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신청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자체가</a:t>
            </a:r>
            <a:r>
              <a:rPr sz="1200" b="1" dirty="0">
                <a:solidFill>
                  <a:srgbClr val="FFFFFF"/>
                </a:solidFill>
                <a:latin typeface="Nanum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NanumGothic"/>
              </a:rPr>
              <a:t>불가능합니다</a:t>
            </a:r>
            <a:endParaRPr lang="en-US" sz="1200" b="1" dirty="0">
              <a:solidFill>
                <a:srgbClr val="FFFFFF"/>
              </a:solidFill>
              <a:latin typeface="NanumGothic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FFFF"/>
                </a:solidFill>
                <a:latin typeface="NanumGothic"/>
              </a:rPr>
              <a:t>오류가 있을 시 제보 부탁드립니다</a:t>
            </a:r>
            <a:r>
              <a:rPr lang="en-US" altLang="ko-KR" sz="1000" b="1" dirty="0">
                <a:solidFill>
                  <a:srgbClr val="FFFFFF"/>
                </a:solidFill>
                <a:latin typeface="NanumGothic"/>
              </a:rPr>
              <a:t>.</a:t>
            </a:r>
            <a:endParaRPr sz="1000" b="1" dirty="0">
              <a:solidFill>
                <a:srgbClr val="FFFFFF"/>
              </a:solidFill>
              <a:latin typeface="Nanum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3  필수과목 규칙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554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090"/>
                </a:solidFill>
                <a:latin typeface="NanumGothic"/>
              </a:rPr>
              <a:t>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내과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005840"/>
            <a:ext cx="1554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0972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090"/>
                </a:solidFill>
                <a:latin typeface="NanumGothic"/>
              </a:rPr>
              <a:t>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외과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005840"/>
            <a:ext cx="1554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0972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090"/>
                </a:solidFill>
                <a:latin typeface="NanumGothic"/>
              </a:rPr>
              <a:t>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산부인과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005840"/>
            <a:ext cx="1554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10972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090"/>
                </a:solidFill>
                <a:latin typeface="NanumGothic"/>
              </a:rPr>
              <a:t>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소아과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005840"/>
            <a:ext cx="1554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0972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28090"/>
                </a:solidFill>
                <a:latin typeface="NanumGothic"/>
              </a:rPr>
              <a:t>진로탐색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508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NanumGothic"/>
              </a:rPr>
              <a:t>진로탐색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00" b="1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후에도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위 5개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필수과목이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모두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스케줄에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있어야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1" dirty="0" err="1">
                <a:solidFill>
                  <a:srgbClr val="1A2E44"/>
                </a:solidFill>
                <a:latin typeface="NanumGothic"/>
              </a:rPr>
              <a:t>합니다</a:t>
            </a:r>
            <a:r>
              <a:rPr sz="1300" b="1" dirty="0">
                <a:solidFill>
                  <a:srgbClr val="1A2E44"/>
                </a:solidFill>
                <a:latin typeface="NanumGothic"/>
              </a:rPr>
              <a:t>.</a:t>
            </a:r>
          </a:p>
          <a:p>
            <a:pPr algn="l">
              <a:spcBef>
                <a:spcPts val="0"/>
              </a:spcBef>
              <a:spcAft>
                <a:spcPts val="520"/>
              </a:spcAft>
            </a:pPr>
            <a:endParaRPr sz="1300" b="1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00" b="0" dirty="0">
                <a:solidFill>
                  <a:srgbClr val="1A2E44"/>
                </a:solidFill>
                <a:latin typeface="NanumGothic"/>
              </a:rPr>
              <a:t>예)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내가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IM을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주고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GS를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받으면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, 내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스케줄에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IM이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없어지죠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?</a:t>
            </a:r>
          </a:p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00" b="0" dirty="0">
                <a:solidFill>
                  <a:srgbClr val="1A2E44"/>
                </a:solidFill>
                <a:latin typeface="NanumGothic"/>
              </a:rPr>
              <a:t>     →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다른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턴에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IM이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이미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있으면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OK!</a:t>
            </a:r>
          </a:p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00" b="0" dirty="0">
                <a:solidFill>
                  <a:srgbClr val="1A2E44"/>
                </a:solidFill>
                <a:latin typeface="NanumGothic"/>
              </a:rPr>
              <a:t>     →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IM이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아예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사라지면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불가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(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시스템이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자동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300" b="0" dirty="0" err="1">
                <a:solidFill>
                  <a:srgbClr val="1A2E44"/>
                </a:solidFill>
                <a:latin typeface="NanumGothic"/>
              </a:rPr>
              <a:t>차단</a:t>
            </a:r>
            <a:r>
              <a:rPr sz="1300" b="0" dirty="0">
                <a:solidFill>
                  <a:srgbClr val="1A2E44"/>
                </a:solidFill>
                <a:latin typeface="NanumGothic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23360"/>
            <a:ext cx="841248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09651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NanumGothic"/>
              </a:rPr>
              <a:t>💡 Tip: 조건 불충족 시 '가능한 조합 찾기'를 누르면 추가 교환으로 해결되는 조합을 자동 탐색해줘요!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4  휴가턴 교환 규칙  ⭐핵심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NanumGothic"/>
              </a:rPr>
              <a:t>❌ 단일 교환 — 한쪽만 휴가면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A의 휴가턴 ↔ B의 일반턴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→ A가 휴가를 잃고 돌려받을 방법이 없음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→ 시스템이 자동 차단합니다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NanumGothic"/>
              </a:rPr>
              <a:t>✅ 복합 교환 — 수지만 맞으면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356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 err="1">
                <a:solidFill>
                  <a:srgbClr val="1A2E44"/>
                </a:solidFill>
                <a:latin typeface="NanumGothic"/>
              </a:rPr>
              <a:t>A가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B에게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휴가턴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1개 줌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>
                <a:solidFill>
                  <a:srgbClr val="1A2E44"/>
                </a:solidFill>
                <a:latin typeface="NanumGothic"/>
              </a:rPr>
              <a:t>+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B에게서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다른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휴가턴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1개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받음</a:t>
            </a:r>
            <a:endParaRPr sz="11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>
                <a:solidFill>
                  <a:srgbClr val="1A2E44"/>
                </a:solidFill>
                <a:latin typeface="NanumGothic"/>
              </a:rPr>
              <a:t>→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상대방별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휴가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lang="ko-KR" altLang="en-US" sz="1100" dirty="0">
                <a:solidFill>
                  <a:srgbClr val="1A2E44"/>
                </a:solidFill>
                <a:latin typeface="NanumGothic"/>
              </a:rPr>
              <a:t>개수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가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같으면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통과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8412480" cy="1645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090"/>
                </a:solidFill>
                <a:latin typeface="NanumGothic"/>
              </a:rPr>
              <a:t>📌 예시로 이해하기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 err="1">
                <a:solidFill>
                  <a:srgbClr val="1A2E44"/>
                </a:solidFill>
                <a:latin typeface="NanumGothic"/>
              </a:rPr>
              <a:t>김인턴의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5턴(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휴가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)을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이인턴에게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주고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싶어요</a:t>
            </a:r>
            <a:endParaRPr sz="11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>
                <a:solidFill>
                  <a:srgbClr val="1A2E44"/>
                </a:solidFill>
                <a:latin typeface="NanumGothic"/>
              </a:rPr>
              <a:t>→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방법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: 5턴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+ 9턴도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함께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(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이인턴의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 9턴이 </a:t>
            </a:r>
            <a:r>
              <a:rPr sz="1100" b="0" dirty="0" err="1">
                <a:solidFill>
                  <a:srgbClr val="1A2E44"/>
                </a:solidFill>
                <a:latin typeface="NanumGothic"/>
              </a:rPr>
              <a:t>휴가</a:t>
            </a:r>
            <a:r>
              <a:rPr sz="1100" b="0" dirty="0">
                <a:solidFill>
                  <a:srgbClr val="1A2E44"/>
                </a:solidFill>
                <a:latin typeface="NanumGothic"/>
              </a:rPr>
              <a:t>)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 dirty="0">
                <a:solidFill>
                  <a:srgbClr val="028090"/>
                </a:solidFill>
                <a:latin typeface="NanumGothic"/>
              </a:rPr>
              <a:t>  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김인턴이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 5턴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휴가를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주고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(→준 1개), 9턴에서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이인턴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휴가를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 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받음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(→</a:t>
            </a:r>
            <a:r>
              <a:rPr sz="1100" b="0" dirty="0" err="1">
                <a:solidFill>
                  <a:srgbClr val="028090"/>
                </a:solidFill>
                <a:latin typeface="NanumGothic"/>
              </a:rPr>
              <a:t>받은</a:t>
            </a:r>
            <a:r>
              <a:rPr sz="1100" b="0" dirty="0">
                <a:solidFill>
                  <a:srgbClr val="028090"/>
                </a:solidFill>
                <a:latin typeface="NanumGothic"/>
              </a:rPr>
              <a:t> 1개)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 dirty="0">
                <a:solidFill>
                  <a:srgbClr val="10B981"/>
                </a:solidFill>
                <a:latin typeface="NanumGothic"/>
              </a:rPr>
              <a:t>  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수지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: 준 1개 =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받은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 1개 ✅ 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복합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교환으로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 한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번에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 </a:t>
            </a:r>
            <a:r>
              <a:rPr sz="1100" b="1" dirty="0" err="1">
                <a:solidFill>
                  <a:srgbClr val="10B981"/>
                </a:solidFill>
                <a:latin typeface="NanumGothic"/>
              </a:rPr>
              <a:t>신청</a:t>
            </a:r>
            <a:r>
              <a:rPr sz="1100" b="1" dirty="0">
                <a:solidFill>
                  <a:srgbClr val="10B981"/>
                </a:solidFill>
                <a:latin typeface="NanumGothic"/>
              </a:rPr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5  교환 신청 방법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E44"/>
                </a:solidFill>
                <a:latin typeface="NanumGothic"/>
              </a:rPr>
              <a:t>상대방 &amp; 턴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NanumGothic"/>
              </a:rPr>
              <a:t>교환하고 싶은 상대와 턴을 선택하면
"나: ○○ ↔ 상대: ○○" 미리보기가 표시돼요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E44"/>
                </a:solidFill>
                <a:latin typeface="NanumGothic"/>
              </a:rPr>
              <a:t>조건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0B981"/>
                </a:solidFill>
                <a:latin typeface="NanumGothic"/>
              </a:rPr>
              <a:t>✅ 초록색 = 교환 가능!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EF4444"/>
                </a:solidFill>
                <a:latin typeface="NanumGothic"/>
              </a:rPr>
              <a:t>⚠️ 빨간색 = 규칙 위반 (항목 추가 or 조합 찾기)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anum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2E44"/>
                </a:solidFill>
                <a:latin typeface="NanumGothic"/>
              </a:rPr>
              <a:t>요청 보내기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NanumGothic"/>
              </a:rPr>
              <a:t>📨 요청 보내기 버튼을 누르면
상대방에게 교환 요청이 전달돼요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914400"/>
            <a:ext cx="40233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005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090"/>
                </a:solidFill>
                <a:latin typeface="NanumGothic"/>
              </a:rPr>
              <a:t>🔗 복합 교환 (여러 건 동시)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716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➕ 항목 추가 버튼으로 교환을 추가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2~3개 턴을 한 번에 교환 신청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모든 상대방이 수락해야 실행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하나라도 거절하면 전체 취소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💡 휴가턴 교환이나 과목 규칙 해결에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 복합 교환이 꼭 필요해요!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383280"/>
            <a:ext cx="402336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474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NanumGothic"/>
              </a:rPr>
              <a:t>🔍 조건 불충족 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 err="1">
                <a:solidFill>
                  <a:srgbClr val="1D4ED8"/>
                </a:solidFill>
                <a:latin typeface="NanumGothic"/>
              </a:rPr>
              <a:t>항목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추가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: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수동으로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교환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추가</a:t>
            </a:r>
            <a:endParaRPr sz="1000" b="1" dirty="0">
              <a:solidFill>
                <a:srgbClr val="1D4ED8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 err="1">
                <a:solidFill>
                  <a:srgbClr val="1D4ED8"/>
                </a:solidFill>
                <a:latin typeface="NanumGothic"/>
              </a:rPr>
              <a:t>가능한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조합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찾기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: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자동으로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조합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D4ED8"/>
                </a:solidFill>
                <a:latin typeface="NanumGothic"/>
              </a:rPr>
              <a:t>탐색</a:t>
            </a:r>
            <a:r>
              <a:rPr sz="1000" b="1" dirty="0">
                <a:solidFill>
                  <a:srgbClr val="1D4ED8"/>
                </a:solidFill>
                <a:latin typeface="NanumGothic"/>
              </a:rPr>
              <a:t>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6  조합 찾기 &amp; 교환 장터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8090"/>
                </a:solidFill>
                <a:latin typeface="NanumGothic"/>
              </a:rPr>
              <a:t>🔍 가능한 조합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교환이 규칙에 안 맞을 때 자동으로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추가 교환 조합을 탐색해줘요!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사용법: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1. 원하는 교환을 선택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2. 조건 불충족 시 🔍 버튼 클릭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3. 가능한 조합 목록에서 선택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4. ⬆️ 설정 버튼으로 자동 세팅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028090"/>
                </a:solidFill>
                <a:latin typeface="NanumGothic"/>
              </a:rPr>
              <a:t>💡 시스템이 최대 200개 조합을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028090"/>
                </a:solidFill>
                <a:latin typeface="NanumGothic"/>
              </a:rPr>
              <a:t>   자동으로 탐색해줍니다!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91440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97316"/>
                </a:solidFill>
                <a:latin typeface="NanumGothic"/>
              </a:rPr>
              <a:t>🏪 교환 장터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직접 상대를 찾기 어려울 때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게시판에 교환을 올려보세요!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장터 둘러보기: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🟢 초록 점 = 바로 교환 가능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🔴 빨간 점 = 복합 교환으로 가능할 수도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1">
                <a:solidFill>
                  <a:srgbClr val="1A2E44"/>
                </a:solidFill>
                <a:latin typeface="NanumGothic"/>
              </a:rPr>
              <a:t>내 턴 올리기: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줄 턴 지정: "5턴을 줄게, IM 받고 싶어"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받을 턴 지정: "GS 받고 싶어"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메시지도 함께 남길 수 있어요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97680"/>
            <a:ext cx="841248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39659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💡 장터에서 '응하기' 버튼을 누르면 바로 교환 신청으로 연결돼요!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7  요청 수락 / 거절 &amp; 시뮬레이션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NanumGothic"/>
              </a:rPr>
              <a:t>✅ 수락하기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사이드바에서 받은 요청 확인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✅ 수락 버튼 → 즉시 교환 실행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구글 시트에 자동 반영!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⚠️ 복합 교환은 모든 사람이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 수락해야 최종 실행돼요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4444"/>
                </a:solidFill>
                <a:latin typeface="NanumGothic"/>
              </a:rPr>
              <a:t>❌ 거절하기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❌ 거절 버튼으로 거절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• 복합 교환은 하나만 거절해도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전체가 자동 취소됩니다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endParaRPr sz="1100" b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💡 새로운 요청이 오면</a:t>
            </a:r>
          </a:p>
          <a:p>
            <a:pPr algn="l">
              <a:spcBef>
                <a:spcPts val="0"/>
              </a:spcBef>
              <a:spcAft>
                <a:spcPts val="440"/>
              </a:spcAft>
            </a:pPr>
            <a:r>
              <a:rPr sz="1100" b="0">
                <a:solidFill>
                  <a:srgbClr val="1A2E44"/>
                </a:solidFill>
                <a:latin typeface="NanumGothic"/>
              </a:rPr>
              <a:t>   사이드바에 숫자로 알려줘요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8412480" cy="19888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28090"/>
                </a:solidFill>
                <a:latin typeface="NanumGothic"/>
              </a:rPr>
              <a:t>🧪 교환 시뮬레이션 (사이드바 하단)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7772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1A2E44"/>
                </a:solidFill>
                <a:latin typeface="NanumGothic"/>
              </a:rPr>
              <a:t>🔄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특정</a:t>
            </a:r>
            <a:r>
              <a:rPr sz="1000" b="1" dirty="0">
                <a:solidFill>
                  <a:srgbClr val="1A2E44"/>
                </a:solidFill>
                <a:latin typeface="NanumGothic"/>
              </a:rPr>
              <a:t> 턴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교환</a:t>
            </a:r>
            <a:endParaRPr sz="1000" b="1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1A2E44"/>
                </a:solidFill>
                <a:latin typeface="NanumGothic"/>
              </a:rPr>
              <a:t>  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특정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턴에서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가능한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파트너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전체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목록</a:t>
            </a: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1A2E44"/>
                </a:solidFill>
                <a:latin typeface="NanumGothic"/>
              </a:rPr>
              <a:t>🎯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특정</a:t>
            </a:r>
            <a:r>
              <a:rPr sz="1000" b="1" dirty="0">
                <a:solidFill>
                  <a:srgbClr val="1A2E44"/>
                </a:solidFill>
                <a:latin typeface="NanumGothic"/>
              </a:rPr>
              <a:t> 턴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받기</a:t>
            </a:r>
            <a:endParaRPr sz="1000" b="1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1A2E44"/>
                </a:solidFill>
                <a:latin typeface="NanumGothic"/>
              </a:rPr>
              <a:t>  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내가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원하는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과목을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받을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수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있는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모든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조합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탐색</a:t>
            </a: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dirty="0">
                <a:solidFill>
                  <a:srgbClr val="1A2E44"/>
                </a:solidFill>
                <a:latin typeface="NanumGothic"/>
              </a:rPr>
              <a:t>🔗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복합</a:t>
            </a:r>
            <a:r>
              <a:rPr sz="10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000" b="1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1" dirty="0" err="1">
                <a:solidFill>
                  <a:srgbClr val="1A2E44"/>
                </a:solidFill>
                <a:latin typeface="NanumGothic"/>
              </a:rPr>
              <a:t>탐색</a:t>
            </a:r>
            <a:endParaRPr sz="1000" b="1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1A2E44"/>
                </a:solidFill>
                <a:latin typeface="NanumGothic"/>
              </a:rPr>
              <a:t>   2~3개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턴을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동시에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교환해야만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가능한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조합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검색</a:t>
            </a:r>
            <a:endParaRPr sz="1000" b="0" dirty="0">
              <a:solidFill>
                <a:srgbClr val="1A2E44"/>
              </a:solidFill>
              <a:latin typeface="NanumGothic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1A2E44"/>
                </a:solidFill>
                <a:latin typeface="NanumGothic"/>
              </a:rPr>
              <a:t>→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요청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버튼을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누르면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바로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교환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신청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화면으로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 </a:t>
            </a:r>
            <a:r>
              <a:rPr sz="1000" b="0" dirty="0" err="1">
                <a:solidFill>
                  <a:srgbClr val="1A2E44"/>
                </a:solidFill>
                <a:latin typeface="NanumGothic"/>
              </a:rPr>
              <a:t>연결돼요</a:t>
            </a:r>
            <a:r>
              <a:rPr sz="1000" b="0" dirty="0">
                <a:solidFill>
                  <a:srgbClr val="1A2E44"/>
                </a:solidFill>
                <a:latin typeface="NanumGothic"/>
              </a:rPr>
              <a:t>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86200" y="10058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NanumGothic"/>
              </a:rP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rgbClr val="FFFFFF"/>
                </a:solidFill>
                <a:latin typeface="NanumGothic"/>
              </a:rPr>
              <a:t>2026 CHA INTERN</a:t>
            </a:r>
            <a:endParaRPr sz="3000" b="1" dirty="0">
              <a:solidFill>
                <a:srgbClr val="FFFFFF"/>
              </a:solidFill>
              <a:latin typeface="Nanum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2C39A"/>
                </a:solidFill>
                <a:latin typeface="NanumGothic"/>
              </a:rPr>
              <a:t>이제</a:t>
            </a:r>
            <a:r>
              <a:rPr sz="1600" b="1" dirty="0">
                <a:solidFill>
                  <a:srgbClr val="02C39A"/>
                </a:solidFill>
                <a:latin typeface="NanumGothic"/>
              </a:rPr>
              <a:t> </a:t>
            </a:r>
            <a:r>
              <a:rPr sz="1600" b="1" dirty="0" err="1">
                <a:solidFill>
                  <a:srgbClr val="02C39A"/>
                </a:solidFill>
                <a:latin typeface="NanumGothic"/>
              </a:rPr>
              <a:t>턴표</a:t>
            </a:r>
            <a:r>
              <a:rPr sz="1600" b="1" dirty="0">
                <a:solidFill>
                  <a:srgbClr val="02C39A"/>
                </a:solidFill>
                <a:latin typeface="NanumGothic"/>
              </a:rPr>
              <a:t> </a:t>
            </a:r>
            <a:r>
              <a:rPr sz="1600" b="1" dirty="0" err="1">
                <a:solidFill>
                  <a:srgbClr val="02C39A"/>
                </a:solidFill>
                <a:latin typeface="NanumGothic"/>
              </a:rPr>
              <a:t>교환을</a:t>
            </a:r>
            <a:r>
              <a:rPr sz="1600" b="1" dirty="0">
                <a:solidFill>
                  <a:srgbClr val="02C39A"/>
                </a:solidFill>
                <a:latin typeface="NanumGothic"/>
              </a:rPr>
              <a:t> </a:t>
            </a:r>
            <a:r>
              <a:rPr sz="1600" b="1" dirty="0" err="1">
                <a:solidFill>
                  <a:srgbClr val="02C39A"/>
                </a:solidFill>
                <a:latin typeface="NanumGothic"/>
              </a:rPr>
              <a:t>시작해보세요</a:t>
            </a:r>
            <a:endParaRPr sz="1600" b="1" dirty="0">
              <a:solidFill>
                <a:srgbClr val="02C39A"/>
              </a:solidFill>
              <a:latin typeface="Nanum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560320" cy="1097280"/>
          </a:xfrm>
          <a:prstGeom prst="roundRect">
            <a:avLst/>
          </a:prstGeom>
          <a:solidFill>
            <a:srgbClr val="24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anumGothic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5E7EB"/>
                </a:solidFill>
                <a:latin typeface="NanumGothic"/>
              </a:rPr>
              <a:t>기본 비밀번호: 1234
(첫 로그인 시 변경 필수!)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017520"/>
            <a:ext cx="2560320" cy="1097280"/>
          </a:xfrm>
          <a:prstGeom prst="roundRect">
            <a:avLst/>
          </a:prstGeom>
          <a:solidFill>
            <a:srgbClr val="24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anumGothic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5E7EB"/>
                </a:solidFill>
                <a:latin typeface="NanumGothic"/>
              </a:rPr>
              <a:t>모바일에서도 접속 가능
(오른쪽 상단에서 화면 전환)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17520"/>
            <a:ext cx="2560320" cy="1097280"/>
          </a:xfrm>
          <a:prstGeom prst="roundRect">
            <a:avLst/>
          </a:prstGeom>
          <a:solidFill>
            <a:srgbClr val="24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anumGothic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5E7EB"/>
                </a:solidFill>
                <a:latin typeface="NanumGothic"/>
              </a:rPr>
              <a:t>다른 사람 교환 확인은
새로고침 버튼 클릭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939</Words>
  <Application>Microsoft Office PowerPoint</Application>
  <PresentationFormat>화면 슬라이드 쇼(16:9)</PresentationFormat>
  <Paragraphs>182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NanumGothic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2272</cp:lastModifiedBy>
  <cp:revision>2</cp:revision>
  <dcterms:created xsi:type="dcterms:W3CDTF">2013-01-27T09:14:16Z</dcterms:created>
  <dcterms:modified xsi:type="dcterms:W3CDTF">2026-03-10T08:39:21Z</dcterms:modified>
  <cp:category/>
</cp:coreProperties>
</file>